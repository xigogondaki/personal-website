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website/_img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806">
              <a:alpha val="62000"/>
            </a:srgbClr>
          </a:solidFill>
          <a:ln w="12700">
            <a:solidFill>
              <a:srgbClr val="0A080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8B2910"/>
          </a:solidFill>
          <a:ln w="12700">
            <a:solidFill>
              <a:srgbClr val="8B291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350" kern="0" dirty="0">
                <a:solidFill>
                  <a:srgbClr val="8B2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 PITCH DECK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96012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NitXig 2026 Getaway</a:t>
            </a:r>
            <a:endParaRPr lang="en-US" sz="6800" dirty="0"/>
          </a:p>
        </p:txBody>
      </p:sp>
      <p:sp>
        <p:nvSpPr>
          <p:cNvPr id="7" name="Text 4"/>
          <p:cNvSpPr/>
          <p:nvPr/>
        </p:nvSpPr>
        <p:spPr>
          <a:xfrm>
            <a:off x="502920" y="2697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D8C8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time for whimsy and shenanigans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02920" y="3310128"/>
            <a:ext cx="5029200" cy="16459"/>
          </a:xfrm>
          <a:prstGeom prst="rect">
            <a:avLst/>
          </a:prstGeom>
          <a:solidFill>
            <a:srgbClr val="5A4838"/>
          </a:solidFill>
          <a:ln w="12700">
            <a:solidFill>
              <a:srgbClr val="5A483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34930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 ·  OCTOBER 2026  ·  TORONTO × BANGALORE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5943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5943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Lisbon / Porto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017520" y="5943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5943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5943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32120" y="5943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46720" y="5943600"/>
            <a:ext cx="2331720" cy="402336"/>
          </a:xfrm>
          <a:prstGeom prst="roundRect">
            <a:avLst>
              <a:gd name="adj" fmla="val 13636"/>
            </a:avLst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5943600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Tbilisi  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website/_img/lisb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249" y="0"/>
            <a:ext cx="694770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41249" y="0"/>
            <a:ext cx="731520" cy="6858000"/>
          </a:xfrm>
          <a:prstGeom prst="rect">
            <a:avLst/>
          </a:prstGeom>
          <a:ln w="12700">
            <a:solidFill>
              <a:srgbClr val="F2EDE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241249" cy="685800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720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749808"/>
            <a:ext cx="4555449" cy="960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Lisbon / Porto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4555449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Sun-drenched, soul-filled, effortlessly cool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2186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₹55,000 – 75,000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8444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CA$900 – 1,100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6052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 THE GROUND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445312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 – 80,000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188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CA$1,800 – 2,400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Lisbon / Porto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411712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LOVE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31636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8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THAT'LL SURPRISE YOU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76188" y="1371600"/>
            <a:ext cx="16459" cy="5303520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specialty coffee in both cities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Iconic tiled streets &amp; miradouros for long walks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Douro riverfront running — flat, scenic, perfect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wine bar culture (petiscos everywhere)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99432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Thriving social scene — expats &amp; travellers mix easily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6636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Fado floats out of tiny bars at midnight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1965960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Porto often beats Lisbon for food &amp; authenticity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1636" y="2624328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6228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hills are genuinely brutal — pack real shoes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3282696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Pastéis de nata are a legitimate obsession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1636" y="3941064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October: crowds thin, golden light, lower prices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599432"/>
            <a:ext cx="82296" cy="82296"/>
          </a:xfrm>
          <a:prstGeom prst="ellipse">
            <a:avLst/>
          </a:prstGeom>
          <a:solidFill>
            <a:srgbClr val="C87B4A"/>
          </a:solidFill>
          <a:ln w="12700">
            <a:solidFill>
              <a:srgbClr val="C87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6228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between both cities in ~3 hours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website/_img/istanbu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249" y="0"/>
            <a:ext cx="694770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41249" y="0"/>
            <a:ext cx="731520" cy="6858000"/>
          </a:xfrm>
          <a:prstGeom prst="rect">
            <a:avLst/>
          </a:prstGeom>
          <a:ln w="12700">
            <a:solidFill>
              <a:srgbClr val="F2EDE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241249" cy="685800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720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749808"/>
            <a:ext cx="4555449" cy="960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4555449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continents, one city, zero chill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2186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₹28,000 – 45,000  ★ best BLR fare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8444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CA$900 – 1,200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6052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 THE GROUND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445312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₹45,000 – 65,000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188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CA$1,500 – 2,000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411712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LOVE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31636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3A7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THAT'LL SURPRISE YOU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76188" y="1371600"/>
            <a:ext cx="16459" cy="5303520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Bazaar &amp; Spice Market — full sensory overload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Bosphorus waterfront — elite morning run route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Incredible coffee culture (Turkish + specialty)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Wine bars in Karaköy &amp; Beyoğlu — genuinely cool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99432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Hagia Sophia, Blue Mosque, Topkapı Palace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6636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world's most social cities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1965960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flight from Bangalore of all four options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1636" y="2624328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6228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is perfect — warm but not scorching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3282696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goes way beyond kebabs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1636" y="3941064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Karaköy rivals any neighbourhood in Europe for vibes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599432"/>
            <a:ext cx="82296" cy="82296"/>
          </a:xfrm>
          <a:prstGeom prst="ellipse">
            <a:avLst/>
          </a:prstGeom>
          <a:solidFill>
            <a:srgbClr val="3A7A9C"/>
          </a:solidFill>
          <a:ln w="12700">
            <a:solidFill>
              <a:srgbClr val="3A7A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6228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Bosphorus at dawn: one of the great runner's rewards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website/_img/budap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249" y="0"/>
            <a:ext cx="694770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41249" y="0"/>
            <a:ext cx="731520" cy="6858000"/>
          </a:xfrm>
          <a:prstGeom prst="rect">
            <a:avLst/>
          </a:prstGeom>
          <a:ln w="12700">
            <a:solidFill>
              <a:srgbClr val="F2EDE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241249" cy="685800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720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749808"/>
            <a:ext cx="4555449" cy="960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4555449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Grand, gritty, gothic, gorgeous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2608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7200" y="32186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₹36,000 – 60,000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58444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CA$850 – 1,100  ★ best YYZ fare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16052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 THE GROUND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57200" y="445312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 – 55,000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48188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CA$1,400 – 1,900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411712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LOVE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31636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7B5E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THAT'LL SURPRISE YOU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76188" y="1371600"/>
            <a:ext cx="16459" cy="5303520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Margaret Island — 2.5 km traffic-free running paradise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bath culture is its own entire vibe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Jaw-dropping architecture — Danube at night is surreal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wine bars (Tokaji, Egri Bikavér)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99432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Ruin bars — unique, social, memorably chaotic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6636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of the three for food &amp; drinks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1965960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week-on-the-ground of the three main picks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1636" y="2624328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6228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food scene has quietly become world-class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3282696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= harvest season + wine festivals everywhere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1636" y="3941064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Danube riverbank run is one of Europe's best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599432"/>
            <a:ext cx="82296" cy="82296"/>
          </a:xfrm>
          <a:prstGeom prst="ellipse">
            <a:avLst/>
          </a:prstGeom>
          <a:solidFill>
            <a:srgbClr val="7B5E87"/>
          </a:solidFill>
          <a:ln w="12700">
            <a:solidFill>
              <a:srgbClr val="7B5E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6228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 (hilly, scenic) vs Pest (flat, buzzy) — two cities in one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ersonal-website/_img/tbilis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249" y="0"/>
            <a:ext cx="694770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41249" y="0"/>
            <a:ext cx="731520" cy="6858000"/>
          </a:xfrm>
          <a:prstGeom prst="rect">
            <a:avLst/>
          </a:prstGeom>
          <a:ln w="12700">
            <a:solidFill>
              <a:srgbClr val="F2EDE4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241249" cy="6858000"/>
          </a:xfrm>
          <a:prstGeom prst="rect">
            <a:avLst/>
          </a:prstGeom>
          <a:solidFill>
            <a:srgbClr val="F2EDE4"/>
          </a:solidFill>
          <a:ln w="12700">
            <a:solidFill>
              <a:srgbClr val="F2ED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5720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749808"/>
            <a:ext cx="4555449" cy="96012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Tbilisi  🃏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457200" y="1755648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7556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WILDCARD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2103120"/>
            <a:ext cx="4555449" cy="530352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C8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East nor West — and better for it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78892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92608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32186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 – 50,000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358444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CA$900 – 1,100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023360"/>
            <a:ext cx="4372569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4160520"/>
            <a:ext cx="455544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spc="2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ON THE GROUND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445312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 – 45,000  ★ best BLR budget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818888"/>
            <a:ext cx="455544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🏨  </a:t>
            </a:r>
            <a:pPr algn="l" indent="0" marL="0">
              <a:buNone/>
            </a:pPr>
            <a:r>
              <a:rPr lang="en-US" sz="11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Toronto   </a:t>
            </a:r>
            <a:pPr algn="l" indent="0" marL="0">
              <a:buNone/>
            </a:pPr>
            <a:r>
              <a:rPr lang="en-US" sz="110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CA$1,200 – 1,600  ★ best YYZ budget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50" kern="0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Tbilisi  🃏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11411712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YOU'D LOVE 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31636" y="1426464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4A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THAT'LL SURPRISE YOU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76188" y="1371600"/>
            <a:ext cx="16459" cy="5303520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Narikala fortress ridge trail — stunning morning run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24328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Georgian wine bars — oldest wine culture on Earth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82696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Thriving specialty coffee scene in the Old Town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41064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Warm, social city — expat/traveller community is real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99432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Moorish + Soviet + Baroque architecture all at once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257800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516636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affordable destination on this list by a wide margin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31636" y="1965960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6228" y="1874520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cheapest destination here — by a lot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1636" y="2624328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6228" y="2532888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Georgian food is genuinely extraordinary (khinkali!)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3282696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96228" y="3191256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wine here predates France by 6,000 years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1636" y="3941064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6228" y="3849624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is harvest season — warm, festive, beautiful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4599432"/>
            <a:ext cx="82296" cy="82296"/>
          </a:xfrm>
          <a:prstGeom prst="ellipse">
            <a:avLst/>
          </a:prstGeom>
          <a:solidFill>
            <a:srgbClr val="4A7A55"/>
          </a:solidFill>
          <a:ln w="12700">
            <a:solidFill>
              <a:srgbClr val="4A7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6228" y="4507992"/>
            <a:ext cx="5088636" cy="475488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wildcard that usually becomes everyone's favourite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D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8B2910"/>
          </a:solidFill>
          <a:ln w="12700">
            <a:solidFill>
              <a:srgbClr val="8B29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47472"/>
            <a:ext cx="11365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C1C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so, where are we going?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C8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quick cheat sheet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411712" cy="16459"/>
          </a:xfrm>
          <a:prstGeom prst="rect">
            <a:avLst/>
          </a:prstGeom>
          <a:solidFill>
            <a:srgbClr val="DAD4CC"/>
          </a:solidFill>
          <a:ln w="12700">
            <a:solidFill>
              <a:srgbClr val="DAD4C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4117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372868"/>
                <a:gridCol w="2372868"/>
                <a:gridCol w="2372868"/>
                <a:gridCol w="237286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Lisbon / Porto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7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Istanbul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A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Budapest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8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spc="80" kern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Tbilisi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A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✈  BLR Flight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₹55–75k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₹28–45k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₹36–60k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✈  YYZ Flight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CA$900–1,100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CA$900–1,200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CA$850–1,100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CA$900–1,100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🏨  Week (BLR)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₹60–80k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₹45–65k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₹40–55k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₹30–45k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🏨  Week (YYZ)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CA$1,800–2,400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CA$1,500–2,000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CA$1,400–1,900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CA$1,200–1,600 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☕  Coffee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🍷  Wine bars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🏃  Running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👥  Meet people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🌍  Tourist draw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8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C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4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46520"/>
            <a:ext cx="11411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spc="50" kern="0" dirty="0">
                <a:solidFill>
                  <a:srgbClr val="8C8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best in category   |   Neela (Toronto / YYZ)  ×  Nitish (Bangalore / BLR)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2026-03-19T19:12:58Z</dcterms:created>
  <dcterms:modified xsi:type="dcterms:W3CDTF">2026-03-19T19:12:58Z</dcterms:modified>
</cp:coreProperties>
</file>